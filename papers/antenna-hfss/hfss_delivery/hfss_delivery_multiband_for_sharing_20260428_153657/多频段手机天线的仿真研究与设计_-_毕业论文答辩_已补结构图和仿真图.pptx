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51ee7d78149ac" /><Relationship Type="http://schemas.openxmlformats.org/officeDocument/2006/relationships/extended-properties" Target="/docProps/app.xml" Id="R4ab4dabc01784a7d" /><Relationship Type="http://schemas.openxmlformats.org/officeDocument/2006/relationships/officeDocument" Target="/ppt/presentation.xml" Id="R227c980bb39c41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c617727b04be4"/>
  </p:sldMasterIdLst>
  <p:notesMasterIdLst>
    <p:notesMasterId xmlns:r="http://schemas.openxmlformats.org/officeDocument/2006/relationships" r:id="Rcb00dc12f0c14b43"/>
  </p:notesMasterIdLst>
  <p:sldIdLst>
    <p:sldId xmlns:r="http://schemas.openxmlformats.org/officeDocument/2006/relationships" id="256" r:id="Rb9460a45e8104bbe"/>
    <p:sldId xmlns:r="http://schemas.openxmlformats.org/officeDocument/2006/relationships" id="257" r:id="R94163a469c0b4f22"/>
    <p:sldId xmlns:r="http://schemas.openxmlformats.org/officeDocument/2006/relationships" id="258" r:id="R70b54abad2e54818"/>
    <p:sldId xmlns:r="http://schemas.openxmlformats.org/officeDocument/2006/relationships" id="259" r:id="R4afd1b2a1e434129"/>
    <p:sldId xmlns:r="http://schemas.openxmlformats.org/officeDocument/2006/relationships" id="260" r:id="R79e642e5631e47da"/>
    <p:sldId xmlns:r="http://schemas.openxmlformats.org/officeDocument/2006/relationships" id="261" r:id="R45e1755b755446d5"/>
    <p:sldId xmlns:r="http://schemas.openxmlformats.org/officeDocument/2006/relationships" id="262" r:id="R793810161cbf4686"/>
    <p:sldId xmlns:r="http://schemas.openxmlformats.org/officeDocument/2006/relationships" id="263" r:id="Rd244cb584ae4472b"/>
    <p:sldId xmlns:r="http://schemas.openxmlformats.org/officeDocument/2006/relationships" id="264" r:id="R0f595199238b48a7"/>
    <p:sldId xmlns:r="http://schemas.openxmlformats.org/officeDocument/2006/relationships" id="265" r:id="R7ce3139a60784ab8"/>
    <p:sldId xmlns:r="http://schemas.openxmlformats.org/officeDocument/2006/relationships" id="266" r:id="R75dac9f071b54a19"/>
    <p:sldId xmlns:r="http://schemas.openxmlformats.org/officeDocument/2006/relationships" id="267" r:id="Rc4a6a89e9ad243da"/>
    <p:sldId xmlns:r="http://schemas.openxmlformats.org/officeDocument/2006/relationships" id="268" r:id="Rb2ee1ee91a114703"/>
    <p:sldId xmlns:r="http://schemas.openxmlformats.org/officeDocument/2006/relationships" id="269" r:id="R3fe98a7e8d3346fe"/>
    <p:sldId xmlns:r="http://schemas.openxmlformats.org/officeDocument/2006/relationships" id="270" r:id="Rf3dc6bd08dce4ddf"/>
    <p:sldId xmlns:r="http://schemas.openxmlformats.org/officeDocument/2006/relationships" id="271" r:id="R0f83387b478e489f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c617727b04be4" /><Relationship Type="http://schemas.openxmlformats.org/officeDocument/2006/relationships/theme" Target="/ppt/theme/theme1.xml" Id="R63e9b10243984852" /><Relationship Type="http://schemas.openxmlformats.org/officeDocument/2006/relationships/notesMaster" Target="/ppt/notesMasters/notesMaster1.xml" Id="Rcb00dc12f0c14b43" /><Relationship Type="http://schemas.openxmlformats.org/officeDocument/2006/relationships/presProps" Target="/ppt/presProps.xml" Id="R4670a2b7366749f3" /><Relationship Type="http://schemas.openxmlformats.org/officeDocument/2006/relationships/viewProps" Target="/ppt/viewProps.xml" Id="Rc222a9584e304d68" /><Relationship Type="http://schemas.openxmlformats.org/officeDocument/2006/relationships/tableStyles" Target="/ppt/tableStyles.xml" Id="R606909235a9f4dc9" /><Relationship Type="http://schemas.openxmlformats.org/officeDocument/2006/relationships/slide" Target="/ppt/slides/slide1.xml" Id="Rb9460a45e8104bbe" /><Relationship Type="http://schemas.openxmlformats.org/officeDocument/2006/relationships/slide" Target="/ppt/slides/slide2.xml" Id="R94163a469c0b4f22" /><Relationship Type="http://schemas.openxmlformats.org/officeDocument/2006/relationships/slide" Target="/ppt/slides/slide3.xml" Id="R70b54abad2e54818" /><Relationship Type="http://schemas.openxmlformats.org/officeDocument/2006/relationships/slide" Target="/ppt/slides/slide4.xml" Id="R4afd1b2a1e434129" /><Relationship Type="http://schemas.openxmlformats.org/officeDocument/2006/relationships/slide" Target="/ppt/slides/slide5.xml" Id="R79e642e5631e47da" /><Relationship Type="http://schemas.openxmlformats.org/officeDocument/2006/relationships/slide" Target="/ppt/slides/slide6.xml" Id="R45e1755b755446d5" /><Relationship Type="http://schemas.openxmlformats.org/officeDocument/2006/relationships/slide" Target="/ppt/slides/slide7.xml" Id="R793810161cbf4686" /><Relationship Type="http://schemas.openxmlformats.org/officeDocument/2006/relationships/slide" Target="/ppt/slides/slide8.xml" Id="Rd244cb584ae4472b" /><Relationship Type="http://schemas.openxmlformats.org/officeDocument/2006/relationships/slide" Target="/ppt/slides/slide9.xml" Id="R0f595199238b48a7" /><Relationship Type="http://schemas.openxmlformats.org/officeDocument/2006/relationships/slide" Target="/ppt/slides/slide10.xml" Id="R7ce3139a60784ab8" /><Relationship Type="http://schemas.openxmlformats.org/officeDocument/2006/relationships/slide" Target="/ppt/slides/slide11.xml" Id="R75dac9f071b54a19" /><Relationship Type="http://schemas.openxmlformats.org/officeDocument/2006/relationships/slide" Target="/ppt/slides/slide12.xml" Id="Rc4a6a89e9ad243da" /><Relationship Type="http://schemas.openxmlformats.org/officeDocument/2006/relationships/slide" Target="/ppt/slides/slide13.xml" Id="Rb2ee1ee91a114703" /><Relationship Type="http://schemas.openxmlformats.org/officeDocument/2006/relationships/slide" Target="/ppt/slides/slide14.xml" Id="R3fe98a7e8d3346fe" /><Relationship Type="http://schemas.openxmlformats.org/officeDocument/2006/relationships/slide" Target="/ppt/slides/slide15.xml" Id="Rf3dc6bd08dce4ddf" /><Relationship Type="http://schemas.openxmlformats.org/officeDocument/2006/relationships/slide" Target="/ppt/slides/slide16.xml" Id="R0f83387b478e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2b38f79087e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2ce0515a54760" /><Relationship Type="http://schemas.openxmlformats.org/officeDocument/2006/relationships/notesMaster" Target="/ppt/notesMasters/notesMaster1.xml" Id="R9e66c2cc284444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08a5f96024d00" /><Relationship Type="http://schemas.openxmlformats.org/officeDocument/2006/relationships/notesMaster" Target="/ppt/notesMasters/notesMaster1.xml" Id="R938f8f40b8e84c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278e9037ac4266" /><Relationship Type="http://schemas.openxmlformats.org/officeDocument/2006/relationships/notesMaster" Target="/ppt/notesMasters/notesMaster1.xml" Id="R8ede09fbf94e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410778a90482d" /><Relationship Type="http://schemas.openxmlformats.org/officeDocument/2006/relationships/notesMaster" Target="/ppt/notesMasters/notesMaster1.xml" Id="R1d78c5f4491340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52429afea7445e" /><Relationship Type="http://schemas.openxmlformats.org/officeDocument/2006/relationships/notesMaster" Target="/ppt/notesMasters/notesMaster1.xml" Id="Rcaf13c067084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dc3fe6aff54e9a" /><Relationship Type="http://schemas.openxmlformats.org/officeDocument/2006/relationships/notesMaster" Target="/ppt/notesMasters/notesMaster1.xml" Id="Rfb1bf7f5a9774d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118285a6e4ff7" /><Relationship Type="http://schemas.openxmlformats.org/officeDocument/2006/relationships/notesMaster" Target="/ppt/notesMasters/notesMaster1.xml" Id="R7ba20cf10c8644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ff3abf696b4b22" /><Relationship Type="http://schemas.openxmlformats.org/officeDocument/2006/relationships/notesMaster" Target="/ppt/notesMasters/notesMaster1.xml" Id="R4fbc86b0b01449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d1826464194c2e" /><Relationship Type="http://schemas.openxmlformats.org/officeDocument/2006/relationships/notesMaster" Target="/ppt/notesMasters/notesMaster1.xml" Id="R640d5e54728248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098e9f4623435f" /><Relationship Type="http://schemas.openxmlformats.org/officeDocument/2006/relationships/notesMaster" Target="/ppt/notesMasters/notesMaster1.xml" Id="R72b04ea92d2b45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567c7146c94fa3" /><Relationship Type="http://schemas.openxmlformats.org/officeDocument/2006/relationships/notesMaster" Target="/ppt/notesMasters/notesMaster1.xml" Id="R6ebd003e2e624f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86fd849ab4532" /><Relationship Type="http://schemas.openxmlformats.org/officeDocument/2006/relationships/notesMaster" Target="/ppt/notesMasters/notesMaster1.xml" Id="R3eace99b07a84b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194f1a19aa4530" /><Relationship Type="http://schemas.openxmlformats.org/officeDocument/2006/relationships/notesMaster" Target="/ppt/notesMasters/notesMaster1.xml" Id="Rb11aac03ced346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93c14eda8a4537" /><Relationship Type="http://schemas.openxmlformats.org/officeDocument/2006/relationships/notesMaster" Target="/ppt/notesMasters/notesMaster1.xml" Id="R8fc60fe30aac4a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c245d46e345b4" /><Relationship Type="http://schemas.openxmlformats.org/officeDocument/2006/relationships/notesMaster" Target="/ppt/notesMasters/notesMaster1.xml" Id="R916963460ba048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ee593514bc4220" /><Relationship Type="http://schemas.openxmlformats.org/officeDocument/2006/relationships/notesMaster" Target="/ppt/notesMasters/notesMaster1.xml" Id="R29b9872bb66a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8f8bddc0d40d0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bf697d216a4897" /><Relationship Type="http://schemas.openxmlformats.org/officeDocument/2006/relationships/slideLayout" Target="/ppt/slideLayouts/slideLayout2.xml" Id="R6cc31eaf245e487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c31eaf245e487b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555a7d24c641a6" /><Relationship Type="http://schemas.openxmlformats.org/officeDocument/2006/relationships/image" Target="/ppt/media/image.jpeg" Id="Rd8de2cbf40c5419c" /><Relationship Type="http://schemas.openxmlformats.org/officeDocument/2006/relationships/notesSlide" Target="/ppt/notesSlides/notesSlide1.xml" Id="Re214575c1ce3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fc66721634649" /><Relationship Type="http://schemas.openxmlformats.org/officeDocument/2006/relationships/image" Target="/ppt/media/image2.jpeg" Id="R5c679adb72494ed0" /><Relationship Type="http://schemas.openxmlformats.org/officeDocument/2006/relationships/notesSlide" Target="/ppt/notesSlides/notesSlide2.xml" Id="R81346a90f20c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9deac37474043" /><Relationship Type="http://schemas.openxmlformats.org/officeDocument/2006/relationships/image" Target="/ppt/media/image3.jpeg" Id="R7c87550d48fd4280" /><Relationship Type="http://schemas.openxmlformats.org/officeDocument/2006/relationships/notesSlide" Target="/ppt/notesSlides/notesSlide3.xml" Id="R06202e449d824c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8319376e84c07" /><Relationship Type="http://schemas.openxmlformats.org/officeDocument/2006/relationships/image" Target="/ppt/media/image4.jpeg" Id="R524435041f0b4ee0" /><Relationship Type="http://schemas.openxmlformats.org/officeDocument/2006/relationships/notesSlide" Target="/ppt/notesSlides/notesSlide4.xml" Id="R9042df2ee6e5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3138fa7824333" /><Relationship Type="http://schemas.openxmlformats.org/officeDocument/2006/relationships/image" Target="/ppt/media/image5.jpeg" Id="Re9182de0b3754e50" /><Relationship Type="http://schemas.openxmlformats.org/officeDocument/2006/relationships/image" Target="/ppt/media/image.png" Id="R8a65ad6b28614665" /><Relationship Type="http://schemas.openxmlformats.org/officeDocument/2006/relationships/notesSlide" Target="/ppt/notesSlides/notesSlide5.xml" Id="R2edf674166be45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0846f6b1e74381" /><Relationship Type="http://schemas.openxmlformats.org/officeDocument/2006/relationships/image" Target="/ppt/media/image2.png" Id="R556ca536a3bc4db1" /><Relationship Type="http://schemas.openxmlformats.org/officeDocument/2006/relationships/notesSlide" Target="/ppt/notesSlides/notesSlide6.xml" Id="R943a6a7fd4264b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f51496d1a40d9" /><Relationship Type="http://schemas.openxmlformats.org/officeDocument/2006/relationships/image" Target="/ppt/media/image3.png" Id="Re4e006604f254c1a" /><Relationship Type="http://schemas.openxmlformats.org/officeDocument/2006/relationships/image" Target="/ppt/media/image4.png" Id="R906cb0166a7a4f8c" /><Relationship Type="http://schemas.openxmlformats.org/officeDocument/2006/relationships/notesSlide" Target="/ppt/notesSlides/notesSlide7.xml" Id="R73d91c42465c45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e4e74753e84f0d" /><Relationship Type="http://schemas.openxmlformats.org/officeDocument/2006/relationships/image" Target="/ppt/media/image5.png" Id="R112705ceba0d48df" /><Relationship Type="http://schemas.openxmlformats.org/officeDocument/2006/relationships/image" Target="/ppt/media/image6.png" Id="R8e9fc50028964e41" /><Relationship Type="http://schemas.openxmlformats.org/officeDocument/2006/relationships/notesSlide" Target="/ppt/notesSlides/notesSlide8.xml" Id="Re3461f075b4a4b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8d4f873a74008" /><Relationship Type="http://schemas.openxmlformats.org/officeDocument/2006/relationships/image" Target="/ppt/media/image7.png" Id="Rfac8430436c340fb" /><Relationship Type="http://schemas.openxmlformats.org/officeDocument/2006/relationships/image" Target="/ppt/media/image8.png" Id="R018b71be9cfa4862" /><Relationship Type="http://schemas.openxmlformats.org/officeDocument/2006/relationships/notesSlide" Target="/ppt/notesSlides/notesSlide9.xml" Id="Rfe8f22a1fc4044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ccf7cc7ba4308" /><Relationship Type="http://schemas.openxmlformats.org/officeDocument/2006/relationships/image" Target="/ppt/media/image9.png" Id="R9d6a3ebcacf146d1" /><Relationship Type="http://schemas.openxmlformats.org/officeDocument/2006/relationships/image" Target="/ppt/media/image10.png" Id="Rca3db7d4bfb040f3" /><Relationship Type="http://schemas.openxmlformats.org/officeDocument/2006/relationships/image" Target="/ppt/media/image11.png" Id="R4efbae2981e34a6e" /><Relationship Type="http://schemas.openxmlformats.org/officeDocument/2006/relationships/image" Target="/ppt/media/image12.png" Id="R780d329715364632" /><Relationship Type="http://schemas.openxmlformats.org/officeDocument/2006/relationships/notesSlide" Target="/ppt/notesSlides/notesSlide10.xml" Id="Rff680b32ea7c43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f1f7cc4b264f1f" /><Relationship Type="http://schemas.openxmlformats.org/officeDocument/2006/relationships/image" Target="/ppt/media/image13.png" Id="Rb58d8ac3b8c34d66" /><Relationship Type="http://schemas.openxmlformats.org/officeDocument/2006/relationships/image" Target="/ppt/media/image14.png" Id="R15da8938419f4a06" /><Relationship Type="http://schemas.openxmlformats.org/officeDocument/2006/relationships/notesSlide" Target="/ppt/notesSlides/notesSlide11.xml" Id="Re09ce92fa8d241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5075e7d1b14f17" /><Relationship Type="http://schemas.openxmlformats.org/officeDocument/2006/relationships/image" Target="/ppt/media/image15.png" Id="R12db7e630e7941a2" /><Relationship Type="http://schemas.openxmlformats.org/officeDocument/2006/relationships/image" Target="/ppt/media/image16.png" Id="Rd6b81a092f8d4d2f" /><Relationship Type="http://schemas.openxmlformats.org/officeDocument/2006/relationships/notesSlide" Target="/ppt/notesSlides/notesSlide12.xml" Id="R6dbe29e3d8f540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daba134cd4704" /><Relationship Type="http://schemas.openxmlformats.org/officeDocument/2006/relationships/image" Target="/ppt/media/image17.png" Id="Rccc0a89d6abb4461" /><Relationship Type="http://schemas.openxmlformats.org/officeDocument/2006/relationships/image" Target="/ppt/media/image18.png" Id="R9acbca132f804218" /><Relationship Type="http://schemas.openxmlformats.org/officeDocument/2006/relationships/notesSlide" Target="/ppt/notesSlides/notesSlide13.xml" Id="R8c7a879a970a42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15c52b46a4f50" /><Relationship Type="http://schemas.openxmlformats.org/officeDocument/2006/relationships/image" Target="/ppt/media/image6.jpeg" Id="R1b0509622f5546ab" /><Relationship Type="http://schemas.openxmlformats.org/officeDocument/2006/relationships/notesSlide" Target="/ppt/notesSlides/notesSlide14.xml" Id="Ref2f231d1f894b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e92f04cfe48f1" /><Relationship Type="http://schemas.openxmlformats.org/officeDocument/2006/relationships/image" Target="/ppt/media/image7.jpeg" Id="Rcbb27408a2a7493e" /><Relationship Type="http://schemas.openxmlformats.org/officeDocument/2006/relationships/image" Target="/ppt/media/image19.png" Id="R20a177a7b37d40ad" /><Relationship Type="http://schemas.openxmlformats.org/officeDocument/2006/relationships/image" Target="/ppt/media/image20.png" Id="R3f4067ec79814e83" /><Relationship Type="http://schemas.openxmlformats.org/officeDocument/2006/relationships/image" Target="/ppt/media/image21.png" Id="Rd7954cb405314617" /><Relationship Type="http://schemas.openxmlformats.org/officeDocument/2006/relationships/image" Target="/ppt/media/image22.png" Id="R1facbc5ef497406a" /><Relationship Type="http://schemas.openxmlformats.org/officeDocument/2006/relationships/image" Target="/ppt/media/image23.png" Id="R78e89f7a08b847ec" /><Relationship Type="http://schemas.openxmlformats.org/officeDocument/2006/relationships/image" Target="/ppt/media/image24.png" Id="R056e4ef7ab5a49bb" /><Relationship Type="http://schemas.openxmlformats.org/officeDocument/2006/relationships/image" Target="/ppt/media/image25.png" Id="R67bd4bbf22c240a2" /><Relationship Type="http://schemas.openxmlformats.org/officeDocument/2006/relationships/image" Target="/ppt/media/image26.png" Id="R0fef1a1d03814091" /><Relationship Type="http://schemas.openxmlformats.org/officeDocument/2006/relationships/notesSlide" Target="/ppt/notesSlides/notesSlide15.xml" Id="R3fa6f6a0cd7f4f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7f20a3a1b149c4" /><Relationship Type="http://schemas.openxmlformats.org/officeDocument/2006/relationships/image" Target="/ppt/media/image8.jpeg" Id="R37959905c5fe4f6a" /><Relationship Type="http://schemas.openxmlformats.org/officeDocument/2006/relationships/notesSlide" Target="/ppt/notesSlides/notesSlide16.xml" Id="R52bb9fc4a30542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e2cbf40c5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E060716-2D94-48ED-8FDD-87B142D0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3981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D8DF71C-F423-4727-8E66-585E409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4464"/>
            <a:ext cx="4762481" cy="960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850" b="1">
                <a:solidFill>
                  <a:srgbClr val="EE6C4D"/>
                </a:solidFill>
                <a:latin typeface="Montserrat ExtraBold"/>
                <a:ea typeface="Montserrat ExtraBold"/>
                <a:cs typeface="Montserrat ExtraBold"/>
              </a:rPr>
              <a:t>多频段手机天线的</a:t>
            </a:r>
            <a:br/>
            <a:r>
              <a:rPr sz="2850" b="1">
                <a:solidFill>
                  <a:srgbClr val="EE6C4D"/>
                </a:solidFill>
                <a:latin typeface="Montserrat ExtraBold"/>
                <a:ea typeface="Montserrat ExtraBold"/>
                <a:cs typeface="Montserrat ExtraBold"/>
              </a:rPr>
              <a:t>仿真研究与设计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7E9E5D-23F8-4B96-B0B4-240AF1C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6073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STUDENT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9AB481F-96A1-4637-85AE-1B17293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2916073"/>
            <a:ext cx="37980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8F9FA"/>
                </a:solidFill>
                <a:latin typeface="Open Sans"/>
                <a:ea typeface="Open Sans"/>
                <a:cs typeface="Open Sans"/>
              </a:rPr>
              <a:t>王艺微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4DA08E3-22D4-4EB7-BD5E-37902BB9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1829"/>
            <a:ext cx="8572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ID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2693045-2E98-4E11-B858-F0EC25E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3251829"/>
            <a:ext cx="3798075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8F9FA"/>
                </a:solidFill>
                <a:latin typeface="Open Sans"/>
                <a:ea typeface="Open Sans"/>
                <a:cs typeface="Open Sans"/>
              </a:rPr>
              <a:t>3222607247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1CCF7BF-1160-4D22-BADE-39D0425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3298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ADVISOR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3FFCBE0-534D-4435-AA35-55251A63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3573298"/>
            <a:ext cx="37980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8F9FA"/>
                </a:solidFill>
                <a:latin typeface="Open Sans"/>
                <a:ea typeface="Open Sans"/>
                <a:cs typeface="Open Sans"/>
              </a:rPr>
              <a:t>程敏 教授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0B7E52C-A0B8-40B9-8604-834DB12D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9054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MAJOR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E482350-ED5E-4332-90D0-EEEBF0FF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3909054"/>
            <a:ext cx="37980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8F9FA"/>
                </a:solidFill>
                <a:latin typeface="Open Sans"/>
                <a:ea typeface="Open Sans"/>
                <a:cs typeface="Open Sans"/>
              </a:rPr>
              <a:t>海洋信息工程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027EF7F-4D8A-4248-A01E-C7DA89AA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4811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DEPT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D7FB890-D00C-4E8C-B5F2-E692E1CE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4244811"/>
            <a:ext cx="37980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8F9FA"/>
                </a:solidFill>
                <a:latin typeface="Open Sans"/>
                <a:ea typeface="Open Sans"/>
                <a:cs typeface="Open Sans"/>
              </a:rPr>
              <a:t>物理与电子信息工程学院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0ACB85D-FDFB-4910-81E0-D9F2C93D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00" y="1271588"/>
            <a:ext cx="2600325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288">
            <a:solidFill>
              <a:srgbClr val="8DA9C4">
                <a:alpha val="2000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C33FF73-D66B-4D7F-B867-2283CD14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606" y="4711303"/>
            <a:ext cx="1496616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GRADUATION DEFENSE 2026</a:t>
            </a:r>
          </a:p>
        </p:txBody>
      </p:sp>
    </p:spTree>
    <p:extLst>
      <p:ext uri="{BB962C8B-B14F-4D97-AF65-F5344CB8AC3E}">
        <p14:creationId xmlns:p14="http://schemas.microsoft.com/office/powerpoint/2010/main" val="8470018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9adb7249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1478DA0-C9A0-44E0-99CA-B37251E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01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CDD4431-0FCD-4747-8A2C-1A52C531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绪论：研究背景与意义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9B0111-F76E-4386-A38B-5DFC7DC4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2476509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EVOLUTION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C7DBDD-56D3-44F1-951C-C4AC6BF6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2476509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移动通信演进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1BBE86F-0E9B-4F64-966B-D64AC6E3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2476509" cy="822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从语音业务向 </a:t>
            </a:r>
            <a:r>
              <a:rPr sz="900" b="1">
                <a:solidFill>
                  <a:srgbClr val="EE6C4D"/>
                </a:solidFill>
                <a:latin typeface="Open Sans"/>
                <a:ea typeface="Open Sans"/>
                <a:cs typeface="Open Sans"/>
              </a:rPr>
              <a:t>5G 高速数据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、短视频、车联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网和物联网业务扩展。终端侧天线不再只是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单一收发部件，而是影响整机通信质量、能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耗和用户体验的关键射频模块。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900F4D6-5D7E-48D6-B2C9-1FF44FCA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9" y="1887066"/>
            <a:ext cx="2476509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CHALLENGES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F2FA0F-3F75-4BC7-ADBF-F8C9714A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9" y="2104951"/>
            <a:ext cx="2476509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设计挑战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576966D-34D3-4145-864A-CE42752A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9" y="2496071"/>
            <a:ext cx="2476509" cy="822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手机天线需在有限净空和复杂整机环境中实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现 </a:t>
            </a:r>
            <a:r>
              <a:rPr sz="900" b="1">
                <a:solidFill>
                  <a:srgbClr val="EE6C4D"/>
                </a:solidFill>
                <a:latin typeface="Open Sans"/>
                <a:ea typeface="Open Sans"/>
                <a:cs typeface="Open Sans"/>
              </a:rPr>
              <a:t>小型化、多目标和强耦合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设计。受电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池、屏幕、金属中框及握持姿态影响，设计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难度显著增加。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3E7B1F3-120B-4DE8-AC07-7092DD06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19" y="1887066"/>
            <a:ext cx="2476509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SIGNIFICANCE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3618808-05C3-417B-85F9-FA1E5A20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19" y="2104951"/>
            <a:ext cx="2476509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研究意义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3A3A605-A4D5-45ED-9CA5-C5E008CD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19" y="2496071"/>
            <a:ext cx="2476509" cy="822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针对 </a:t>
            </a:r>
            <a:r>
              <a:rPr sz="900" b="1">
                <a:solidFill>
                  <a:srgbClr val="EE6C4D"/>
                </a:solidFill>
                <a:latin typeface="Open Sans"/>
                <a:ea typeface="Open Sans"/>
                <a:cs typeface="Open Sans"/>
              </a:rPr>
              <a:t>WLAN 2.4/5.8 GHz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及 </a:t>
            </a:r>
            <a:r>
              <a:rPr sz="900" b="1">
                <a:solidFill>
                  <a:srgbClr val="EE6C4D"/>
                </a:solidFill>
                <a:latin typeface="Open Sans"/>
                <a:ea typeface="Open Sans"/>
                <a:cs typeface="Open Sans"/>
              </a:rPr>
              <a:t>5G n78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频段，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通过仿真优化提升多频段匹配性能，在不反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复制作实物样机的情况下快速验证结构参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数。</a:t>
            </a:r>
          </a:p>
        </p:txBody>
      </p:sp>
    </p:spTree>
    <p:extLst>
      <p:ext uri="{BB962C8B-B14F-4D97-AF65-F5344CB8AC3E}">
        <p14:creationId xmlns:p14="http://schemas.microsoft.com/office/powerpoint/2010/main" val="6419350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7550d48fd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D1B8CBA-A5F5-4564-8817-948FF46A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02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BC01F87-8BDB-43DC-B6BA-8A38E32B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手机天线基本理论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B9F6D36-67B4-4742-B5E6-79A6F8E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37861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PRINCIPLE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BD778B3-E558-4ADD-9422-0EE0B80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7861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电磁辐射原理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1A6357B-33AC-4C79-AA53-4D6E617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0352"/>
            <a:ext cx="3786188" cy="411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天线本质是导行波与自由空间波的转换结构。手机地板、边框和附近金属器件均参与电流分布，需在整机环境中评价。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BAEB980-05B0-4C7F-BE9B-24F8BB4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37861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ADVANTAGE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0C034E1-7DC1-4341-8AFA-C88D714D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3984"/>
            <a:ext cx="37861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PIFA 天线优势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8CC7AD-753B-4192-8E8C-004CD25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9386"/>
            <a:ext cx="3786188" cy="411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平面倒 F 天线（PIFA）具有低剖面、易集成、成本低等优点。通过短路片降低谐振长度，使其更适合手机有限空间。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6505AF3-F99B-4506-AAE8-0F4D4F2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887066"/>
            <a:ext cx="37861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METRICS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892CB64-7813-496F-88C5-A400976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104951"/>
            <a:ext cx="37861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关键评价指标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6A88515-B420-4CDC-AB56-9D7F9C8E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460352"/>
            <a:ext cx="1406733" cy="337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135BB40-3246-4312-A9B5-9E843584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460352"/>
            <a:ext cx="1406733" cy="3375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指标名称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6690F4-1C93-4BE4-9A24-DDDFDDB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2460352"/>
            <a:ext cx="2379455" cy="337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8F076D1-5FE1-45A0-87EF-50EF446A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2460352"/>
            <a:ext cx="2379455" cy="3375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物理意义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967B6D2-4319-4738-84AF-A5FD00AE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797894"/>
            <a:ext cx="1406733" cy="341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S11 (dB)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1C826E5-EDE0-4EE6-8190-1747741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2797894"/>
            <a:ext cx="2379455" cy="341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回波损耗，反映端口反射程度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C105619-9E02-4B31-A0C1-ABA271D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139008"/>
            <a:ext cx="1406733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VSWR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48F7EAF-3130-4C02-9F54-7C4A755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3139008"/>
            <a:ext cx="2379455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电压驻波比，衡量阻抗匹配质量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110BEF8-B9F4-4C24-BB8F-6EBDE8D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483694"/>
            <a:ext cx="1406733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Input Impedance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3D61A44-320A-4C75-91BE-8EA2A351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3483694"/>
            <a:ext cx="2379455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输入阻抗，标准值为 50 Ω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AA0F7AD-7E99-41CB-BEE7-2F4B5A13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828380"/>
            <a:ext cx="1406733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Gain (dBi)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B0E4205-0FF9-4683-98A6-FB5ED4FB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3828380"/>
            <a:ext cx="2379455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辐射增益，反映能量转换效率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4B3A2F0-C97A-434F-BE66-71468C6E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173066"/>
            <a:ext cx="1406733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Bandwidth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6F79EB7-FD9F-4406-A4C2-8EF1F88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45" y="4173066"/>
            <a:ext cx="2379455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工作带宽，满足 S11 &lt; -10dB 范围</a:t>
            </a:r>
          </a:p>
        </p:txBody>
      </p:sp>
    </p:spTree>
    <p:extLst>
      <p:ext uri="{BB962C8B-B14F-4D97-AF65-F5344CB8AC3E}">
        <p14:creationId xmlns:p14="http://schemas.microsoft.com/office/powerpoint/2010/main" val="10522937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435041f0b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337DA95-80AB-4734-ADE1-8538969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26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03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395A31A-1A00-4F70-B5EE-2F9B9541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143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多频段实现技术与仿真流程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C0F82A-7C34-4EC2-BED9-E64C47C4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1804243"/>
            <a:ext cx="2271713" cy="126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TECHNIQUES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866C88E-67BD-4C9C-B802-2F36B00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1988195"/>
            <a:ext cx="1100138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多频段实现技术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5282CB7-3C87-4244-A835-43030A8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2315021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折叠走线：增加等效电流路径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7AB5892-96C0-455A-9762-FC39952E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2502545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加载短路枝节：引入额外谐振点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0C76D79-FF88-4C50-A26A-9052498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2690068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寄生耦合：通过近场耦合扩展带宽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8B31C7F-E138-4304-BC63-9586E2EF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2877592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地板开槽：改变地电流分布特性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BE29A83-9474-4DC1-97C8-A5B141B7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1804243"/>
            <a:ext cx="2271713" cy="126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SOFTWARE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A6EF225-2616-4A1A-9811-63367E4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1988195"/>
            <a:ext cx="1107281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HFSS 仿真工具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5EE5B17-21E7-42FB-932B-0DA566E7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2315021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基于有限元法 (FEM) 的全波仿真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97F6EB5-D611-43D2-B5B8-07F3162D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2502545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自适应网格划分，确保计算精度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F5939BA-EBF9-41D6-A203-8E685D49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2690068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支持宽频扫描与参数化建模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24A6521-6702-4D47-BEDA-E113F72F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2877592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直观展示近场分布与远场方向图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CE0173C-257B-4742-B894-CD07DBA6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1804243"/>
            <a:ext cx="2271713" cy="126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WORKFLOW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810685D-1D03-4395-8A4B-CCBEB77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1988195"/>
            <a:ext cx="942975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本文技术路线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4B66243-01A6-4F9A-867D-798B131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2315021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明确目标：WLAN 2.4/5.8 &amp; 5G n78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5AAAE05-1171-40CA-8541-9EAE3BC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2502545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结构建模：建立 PIFA + 寄生枝节模型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1F2CDD7-8333-4D24-B931-C0A6893B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2690068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参数优化：对比馈电点与枝节尺寸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8991238-AD19-4529-9A42-D0BCEC83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2877592"/>
            <a:ext cx="2271713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90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数据验证：导出 S11、VSWR 与增益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2DF673C-9FE3-462A-9E96-FCBAAE54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69" y="3193703"/>
            <a:ext cx="385763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建模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19A6361-A58B-4C19-B6FA-1A6B724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81" y="3262461"/>
            <a:ext cx="60024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C037D41-177D-48D8-8C15-37F1C7A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855" y="3193703"/>
            <a:ext cx="385763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优化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A6C2467-DE19-40F9-BE89-2C3D42FE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768" y="3262461"/>
            <a:ext cx="60024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E3492DE-C7CC-4F82-8988-CA78DDFE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42" y="3193703"/>
            <a:ext cx="385763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验证</a:t>
            </a:r>
          </a:p>
        </p:txBody>
      </p:sp>
    </p:spTree>
    <p:extLst>
      <p:ext uri="{BB962C8B-B14F-4D97-AF65-F5344CB8AC3E}">
        <p14:creationId xmlns:p14="http://schemas.microsoft.com/office/powerpoint/2010/main" val="19534338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82de0b3754e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D0CE315-252F-4509-8A7B-47080127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03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A58ABF5-5340-4342-A735-E3A5A5D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天线模型结构设计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9DE59EE-740E-43D4-ACAA-5CA4E4C8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32146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COMPOSITION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55BA943-F189-4C99-BF47-B7CECB3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2146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模型组成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742DF63-F284-4425-8DD0-E02D734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手机地板 (Ground Plane)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2DD4C34-FC54-4509-932F-9B2CC56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751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馈电点 (Feed Point)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860FC9A-30AE-4A60-B6C0-C6ACF6E2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5430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短路点 (Shorting Point)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DAB5F24-9CA3-4CDC-9502-8C5D9E04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0110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主 PIFA 辐射枝节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CDBB693-329E-4B44-B69B-7DBF6E5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4790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右侧耦合寄生枝节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6C2BCAA-F029-40B5-8FF8-54B12B7B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626"/>
            <a:ext cx="3214688" cy="33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8DA9C4"/>
                </a:solidFill>
                <a:latin typeface="Open Sans"/>
                <a:ea typeface="Open Sans"/>
                <a:cs typeface="Open Sans"/>
              </a:rPr>
              <a:t>* 采用 Ansys HFSS 建立全波仿真模型，包含完整的整机地板环境。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10184F8-2972-46D3-A7D7-55CA496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1887066"/>
            <a:ext cx="4500563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PARAMETERS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FE99951-59DA-4607-9EA5-E765FDDD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104951"/>
            <a:ext cx="4500563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关键结构参数表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5A4427A-D3EC-4808-A26C-2871B2E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496071"/>
            <a:ext cx="1515954" cy="337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C56F863-8040-4994-B02E-73B0B9AE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496071"/>
            <a:ext cx="1515954" cy="3375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参数名称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716B3DA-DE78-4A24-9E98-65D6D66A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2496071"/>
            <a:ext cx="1937072" cy="337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5CB85BF-5E76-4DC1-BCE0-A395A92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2496071"/>
            <a:ext cx="1937072" cy="3375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物理含义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E5D6786-5975-4445-A622-E09A7CD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64" y="2496071"/>
            <a:ext cx="1047536" cy="337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7B443FA-8FE6-4C2C-8581-B365029B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64" y="2496071"/>
            <a:ext cx="1047536" cy="3375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数值 (mm)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504798C-F7FF-4362-BD1B-07064B3D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833613"/>
            <a:ext cx="1515954" cy="341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Ground_L / W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D786D5C-72E2-48BE-AAB5-FF04242B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2833613"/>
            <a:ext cx="1937072" cy="341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手机地板长度 / 宽度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E1227B0-154D-4739-9498-2A8C72A8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64" y="2833613"/>
            <a:ext cx="1047536" cy="341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150 / 75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56A97FB-F5F1-4654-814D-2CD8F56F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3174727"/>
            <a:ext cx="1515954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Main_Branch_L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3E3E747-6EA9-4C39-9007-8644161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3174727"/>
            <a:ext cx="1937072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主辐射枝节总长度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BF61F3B-AAE6-48AA-A3DC-9B885FF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689" y="3273847"/>
            <a:ext cx="23395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24.5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9853718-838C-4674-B978-B3F3133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3519413"/>
            <a:ext cx="1515954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Parasitic_Gap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DB38587-2067-4B2F-A3AA-8AFAFDD8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3519413"/>
            <a:ext cx="1937072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寄生枝节与主枝节间距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9FF8BF1-20D5-435F-B3CB-F03A896D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689" y="3618533"/>
            <a:ext cx="16787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0.5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8EA35B0-4E02-46DF-90E5-BD8E9F2D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3864099"/>
            <a:ext cx="1515954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Feed_Offset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2782482-14AA-4203-8AF0-9AE1E499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3864099"/>
            <a:ext cx="1937072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馈电点偏置距离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71334F1-1E72-4E64-9681-3371A9D4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64" y="3864099"/>
            <a:ext cx="1047536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2.0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FC04072-F5B3-43ED-99E0-21E4EC12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4208785"/>
            <a:ext cx="1515954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Substrate_H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4E346A6-C838-4784-BEA2-BE2ADFE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91" y="4208785"/>
            <a:ext cx="1937072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介质基板厚度</a:t>
            </a:r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684E4575-D9C2-4DF2-9370-9EE1B223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64" y="4208785"/>
            <a:ext cx="1047536" cy="344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02108" tIns="102108" rIns="102108" bIns="102108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0.8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BF9247-66AF-431F-A479-71A1F95F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28925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5ad6b28614665"/>
          <a:srcRect xmlns:a="http://schemas.openxmlformats.org/drawingml/2006/main" l="0" t="14193" r="0" b="1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2876550"/>
            <a:ext cx="3048000" cy="12573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E3C72-B28E-4881-810F-4BFA18D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STRUCTURE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BC43F1-1EAA-4BAE-9384-A3F0DF55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HFSS 最终多频段结构图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510858-9BE2-4997-A1D3-821B3B6C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8AA0B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90" b="0">
                <a:solidFill>
                  <a:srgbClr val="8AA0B4"/>
                </a:solidFill>
                <a:latin typeface="Microsoft JhengHei"/>
                <a:ea typeface="Microsoft JhengHei"/>
                <a:cs typeface="Microsoft JhengHei"/>
              </a:rPr>
              <a:t>手机地板 + 主 PIFA 枝节 + 右侧寄生枝节</a:t>
            </a:r>
          </a:p>
        </p:txBody>
      </p:sp>
    </p:spTree>
    <p:extLst>
      <p:ext uri="{BB962C8B-B14F-4D97-AF65-F5344CB8AC3E}">
        <p14:creationId xmlns:p14="http://schemas.microsoft.com/office/powerpoint/2010/main" val="13684731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392C4-D051-4C37-B803-54B76A4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96A4C-0C97-4841-AFE7-983ACDC7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CHAPTER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1DEC2-75E7-4FB0-B203-1BF18EFC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HFSS 天线结构图：最终多频段模型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BBF7-ADF9-4F81-8BEB-D9A4F018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8191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DE5D6-CDA5-441B-88F3-3EC29C5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5721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ca536a3bc4db1"/>
          <a:srcRect xmlns:a="http://schemas.openxmlformats.org/drawingml/2006/main" l="0" t="5219" r="0" b="5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1857375"/>
            <a:ext cx="5476875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CC602-15DB-4AE0-99FE-B8E71DA0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7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最终多频段手机天线结构截图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16D0E-6019-4999-9164-0F26994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MODEL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D50B9-8F09-40AA-A98A-AF5ED19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8A7C7-34C4-475D-BAA8-2D64A6F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21431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设计名：HFSSDesign_phone_multiband_enhanced</a:t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候选方案：pg_para_Lg17_Lp28_Wf48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结构组成：</a:t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- 手机地板 Ground Plane</a:t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- 端口馈电 Feed Point</a:t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- 主 PIFA 辐射枝节</a:t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- 右侧耦合寄生枝节</a:t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- 空气盒与辐射边界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作用：寄生枝节用于引入 5.8 GHz 新谐振点，地板尺寸用于平衡 n78 带宽与匹配深度。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0A403-1E7A-4AAF-B840-4D74372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5449F-7D97-48A1-9C79-F33EA477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8AA0B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" b="0">
                <a:solidFill>
                  <a:srgbClr val="8AA0B4"/>
                </a:solidFill>
                <a:latin typeface="Microsoft JhengHei"/>
                <a:ea typeface="Microsoft JhengHei"/>
                <a:cs typeface="Microsoft JhengHei"/>
              </a:rPr>
              <a:t>来源：HFSS 仿真工程截图</a:t>
            </a:r>
          </a:p>
        </p:txBody>
      </p:sp>
    </p:spTree>
    <p:extLst>
      <p:ext uri="{BB962C8B-B14F-4D97-AF65-F5344CB8AC3E}">
        <p14:creationId xmlns:p14="http://schemas.microsoft.com/office/powerpoint/2010/main" val="13684731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006604f254c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510733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436755C-34F8-49F5-AC95-C3A0BE08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04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D023EDF-5CA3-4725-98C9-21873A7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仿真结果分析：S11 回波损耗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F6942A-17EA-45B0-8E97-A6AF6E2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32146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DATA SUMMARY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8B9E3E6-3B1E-4BC7-95D3-9E96234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2146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频段性能对比表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AAD6651-3757-4A25-9A1A-D866730A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895397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7FBCB07-9733-4C5E-B050-6B2100F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895397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目标频段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0DAFAAA-CEA6-4D1E-8B6D-3AE30749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97" y="2496071"/>
            <a:ext cx="956565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9D3E1A4-173C-401A-9C0C-95286B7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97" y="2496071"/>
            <a:ext cx="956565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范围 (GHz)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53F3BC-F571-4AEC-A26D-FC4BFF4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61" y="2496071"/>
            <a:ext cx="839139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7D2C648-7AC8-4305-941B-A9AF33F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61" y="2496071"/>
            <a:ext cx="839139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最差 S11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387ABAB-E642-4E8F-ABFD-EBE27641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601" y="2496071"/>
            <a:ext cx="523587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6B2706B-BBA5-47B8-BAC2-B666EB76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601" y="2496071"/>
            <a:ext cx="523587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结论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1AD70E-83A0-4BA6-A59C-967C914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3607"/>
            <a:ext cx="895397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WLAN 2.4G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3FCC39B-C400-4F32-8475-4D5EC45B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97" y="2783607"/>
            <a:ext cx="956565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2.4 - 2.5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E92D8D1-29D7-4C5F-B879-11932717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61" y="2783607"/>
            <a:ext cx="839139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-30.56 dB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3EB725E-7541-46C9-AC6A-E327A90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601" y="2783607"/>
            <a:ext cx="523587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2D6A4F"/>
                </a:solidFill>
                <a:latin typeface="Space Grotesk"/>
                <a:ea typeface="Space Grotesk"/>
                <a:cs typeface="Space Grotesk"/>
              </a:rPr>
              <a:t>PASS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87C1422-B53F-4EDD-9DB6-8E69C773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6855"/>
            <a:ext cx="895397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5G n78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21DF4F4-B458-400D-80E6-92295981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97" y="3056855"/>
            <a:ext cx="956565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3.3 - 3.8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575520F-AD02-4FFD-AB49-024E02BA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61" y="3056855"/>
            <a:ext cx="839139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-10.37 dB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B5BF152-D700-4662-AC8B-B1A8070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601" y="3056855"/>
            <a:ext cx="523587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2D6A4F"/>
                </a:solidFill>
                <a:latin typeface="Space Grotesk"/>
                <a:ea typeface="Space Grotesk"/>
                <a:cs typeface="Space Grotesk"/>
              </a:rPr>
              <a:t>PASS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89B388E-7D40-45CD-BC3B-8BF42969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676"/>
            <a:ext cx="895397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WLAN 5.8G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B4F4900-AF90-4743-B8B2-7CA71936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97" y="3333676"/>
            <a:ext cx="956565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5.725 - 5.85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744EE2A-8B8A-4E6F-B0EB-4D73EE59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61" y="3333676"/>
            <a:ext cx="839139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-16.41 dB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44924E2-F94E-4919-89BB-B154CFF8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601" y="3333676"/>
            <a:ext cx="523587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2D6A4F"/>
                </a:solidFill>
                <a:latin typeface="Space Grotesk"/>
                <a:ea typeface="Space Grotesk"/>
                <a:cs typeface="Space Grotesk"/>
              </a:rPr>
              <a:t>PASS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9B77A4D-D1D1-4728-BFC4-619D51A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6943"/>
            <a:ext cx="3214688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分析：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2.4GHz 频段匹配深度最显著；n78 频段由于带宽较宽，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匹配裕量相对较小，但仍满足 </a:t>
            </a:r>
            <a:r>
              <a:rPr sz="850">
                <a:solidFill>
                  <a:srgbClr val="EE6C4D"/>
                </a:solidFill>
                <a:latin typeface="Open Sans"/>
                <a:ea typeface="Open Sans"/>
                <a:cs typeface="Open Sans"/>
              </a:rPr>
              <a:t>-10dB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判据。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58A368B-5AC1-4CBD-954E-8904D44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1887066"/>
            <a:ext cx="4500563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VISUALIZATION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E4D0398-D4D9-4955-86E4-C665B63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104951"/>
            <a:ext cx="4500563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S11 频率响应曲线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D30D031-3ED1-4B60-AA2A-000E10D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496071"/>
            <a:ext cx="4500563" cy="3014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144">
            <a:solidFill>
              <a:srgbClr val="8DA9C4"/>
            </a:solidFill>
            <a:prstDash val="solid"/>
          </a:ln>
        </p:spPr>
      </p:sp>
      <p:pic>
        <p:nvPicPr>
          <p:cNvPr id="3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cb0166a7a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4813" y="2638946"/>
            <a:ext cx="4200525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729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E939C-6995-4EE4-9429-D90AA89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0BC30-7614-44A4-82A9-F5E3F2A2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CHAPTER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8B5CF-02F2-493B-A23F-60B51AA1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仿真结果截图：S11 与 VSWR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172E6-A805-4004-9652-0263E2E4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8191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17FD8-8A95-4E4A-A50C-88EA42A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RETURN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5DCB9-5C8F-4E1C-9BF0-06C988B3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7335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STANDING WAVE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E32AA-BBFD-49AC-BF2C-95B4685F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385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705ceba0d48df"/>
          <a:stretch xmlns:a="http://schemas.openxmlformats.org/drawingml/2006/main"/>
        </p:blipFill>
        <p:spPr>
          <a:xfrm xmlns:a="http://schemas.openxmlformats.org/drawingml/2006/main">
            <a:off x="542925" y="2008580"/>
            <a:ext cx="3762375" cy="192643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EB240-A633-4147-90DC-6D6E356E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385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HFSS 多频段 S11 扫频截图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FE1AA-BF9A-4F2F-A7CE-FB6604C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52625"/>
            <a:ext cx="385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fc50028964e41"/>
          <a:stretch xmlns:a="http://schemas.openxmlformats.org/drawingml/2006/main"/>
        </p:blipFill>
        <p:spPr>
          <a:xfrm xmlns:a="http://schemas.openxmlformats.org/drawingml/2006/main">
            <a:off x="4838700" y="2024851"/>
            <a:ext cx="3762375" cy="189389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B4357-F2A7-4208-BED2-73B873C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67175"/>
            <a:ext cx="385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HFSS n78 VSWR 结果截图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0AE94-5742-4061-AC94-A80F494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84363-3B8D-4424-93E2-7956699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-30.56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65D86-32DE-4E52-9ABE-7E7FF72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WLAN 2.4 GHz 最差 S11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D143E-1C9E-46EE-A98D-2E69540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-10.37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E78C5-0077-4384-A7F7-760C746C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5G n78 最差 S11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A2140-BBB7-44E5-8C01-78FB163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434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-16.41 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C3887-0621-430F-853E-757BBC8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965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WLAN 5.8 GHz 最差 S11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BF3A2-B8C2-4A57-BE66-78D1397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43425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6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三段频率均满足 S11 &lt; -10 dB，VSWR 小于 2，说明端口匹配与工作带宽满足论文目标。</a:t>
            </a:r>
          </a:p>
        </p:txBody>
      </p:sp>
    </p:spTree>
    <p:extLst>
      <p:ext uri="{BB962C8B-B14F-4D97-AF65-F5344CB8AC3E}">
        <p14:creationId xmlns:p14="http://schemas.microsoft.com/office/powerpoint/2010/main" val="4737729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0FA9E-205E-4437-B9A3-6B9A9ED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706FF-D0DD-4F85-ADCA-2C5A217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CHAPTER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16FB0-EE90-403E-83D1-33EEA19D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仿真结果截图：输入阻抗与 Smith 圆图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2BCDE-BBF9-4FF5-BA3A-A8F32BE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8191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7B28B-8371-4B61-9E2A-791FAED8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INPUT IMPEDANCE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F08B5-B660-4E32-A271-E89E8FDF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SMITH CHART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B91FE-3831-4DAA-A727-DA8AC7A6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8430436c340fb"/>
          <a:stretch xmlns:a="http://schemas.openxmlformats.org/drawingml/2006/main"/>
        </p:blipFill>
        <p:spPr>
          <a:xfrm xmlns:a="http://schemas.openxmlformats.org/drawingml/2006/main">
            <a:off x="542925" y="2014850"/>
            <a:ext cx="4000500" cy="19710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174AC-B4A2-4802-BB86-D02038F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HFSS 输入阻抗曲线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68306-66EE-4CFA-AF85-F901998A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3695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b71be9cfa4862"/>
          <a:stretch xmlns:a="http://schemas.openxmlformats.org/drawingml/2006/main"/>
        </p:blipFill>
        <p:spPr>
          <a:xfrm xmlns:a="http://schemas.openxmlformats.org/drawingml/2006/main">
            <a:off x="5638543" y="2000250"/>
            <a:ext cx="2324615" cy="2000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1D99D-4E2B-46DA-8EF5-95921DA3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2432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HFSS Smith 圆图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C67BD-FA46-489B-9C3A-E76C278F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62855-B154-4172-9D08-5E01780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0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阻抗曲线用于判断端口匹配趋势，Smith 圆图用于观察 S 参数轨迹是否靠近匹配区域；两类结果与 S11/VSWR 互相印证。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99C4F-5C8A-432F-A04F-A1F4266B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8AA0B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" b="0">
                <a:solidFill>
                  <a:srgbClr val="8AA0B4"/>
                </a:solidFill>
                <a:latin typeface="Microsoft JhengHei"/>
                <a:ea typeface="Microsoft JhengHei"/>
                <a:cs typeface="Microsoft JhengHei"/>
              </a:rPr>
              <a:t>补充 HFSS 原始截图，增强答辩时“结果来自仿真软件”的证据感。</a:t>
            </a:r>
          </a:p>
        </p:txBody>
      </p:sp>
    </p:spTree>
    <p:extLst>
      <p:ext uri="{BB962C8B-B14F-4D97-AF65-F5344CB8AC3E}">
        <p14:creationId xmlns:p14="http://schemas.microsoft.com/office/powerpoint/2010/main" val="18657009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FEBF0-802E-4036-895C-EA7A8A1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FC03D-1E95-46E6-9BDD-1D4BE417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CHAPTER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E2E03-FC81-4F2D-B198-E0B5C9B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仿真结果截图：辐射增益与方向图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FAB70-9A10-43AF-BB05-100B4E2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8191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90A90-6B83-40EE-9071-5E9E7B2C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3D GAIN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958D0-572A-498B-8E84-0F97EFE5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CUT 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C46B6-2450-4B58-9ECA-715936A7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F1664C"/>
                </a:solidFill>
                <a:latin typeface="Microsoft JhengHei"/>
                <a:ea typeface="Microsoft JhengHei"/>
                <a:cs typeface="Microsoft JhengHei"/>
              </a:rPr>
              <a:t>GAIN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09234-C00D-420C-9E09-C1C0D95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a3ebcacf146d1"/>
          <a:stretch xmlns:a="http://schemas.openxmlformats.org/drawingml/2006/main"/>
        </p:blipFill>
        <p:spPr>
          <a:xfrm xmlns:a="http://schemas.openxmlformats.org/drawingml/2006/main">
            <a:off x="542925" y="2108410"/>
            <a:ext cx="2381250" cy="187917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8916B-FE81-4E28-B050-8DD41CF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95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3D 总增益图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E52E7-D4C3-489B-A1D1-C6585ECE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42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db7d4bfb040f3"/>
          <a:stretch xmlns:a="http://schemas.openxmlformats.org/drawingml/2006/main"/>
        </p:blipFill>
        <p:spPr>
          <a:xfrm xmlns:a="http://schemas.openxmlformats.org/drawingml/2006/main">
            <a:off x="3696691" y="2000250"/>
            <a:ext cx="1702993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55E4F-AE05-41CB-BBEE-1E617EEC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2428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Phi=0° 方向图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26CC6-FB49-468D-8912-4F007A9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242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bae2981e34a6e"/>
          <a:stretch xmlns:a="http://schemas.openxmlformats.org/drawingml/2006/main"/>
        </p:blipFill>
        <p:spPr>
          <a:xfrm xmlns:a="http://schemas.openxmlformats.org/drawingml/2006/main">
            <a:off x="3696691" y="3429000"/>
            <a:ext cx="1702993" cy="85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03E38-3731-413F-AEE3-07E48AB9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2428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Phi=90° 方向图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C3776-389F-4FB1-ABEC-7D2EEA20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B2C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d329715364632"/>
          <a:stretch xmlns:a="http://schemas.openxmlformats.org/drawingml/2006/main"/>
        </p:blipFill>
        <p:spPr>
          <a:xfrm xmlns:a="http://schemas.openxmlformats.org/drawingml/2006/main">
            <a:off x="6238875" y="2115927"/>
            <a:ext cx="2362200" cy="186414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F3F7D-6040-455D-99DE-52FA7D0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Theta-Phi 增益曲面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6FF96-14FB-42B4-A2B4-ED5CE3AC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65" b="0">
                <a:solidFill>
                  <a:srgbClr val="082744"/>
                </a:solidFill>
                <a:latin typeface="Microsoft JhengHei"/>
                <a:ea typeface="Microsoft JhengHei"/>
                <a:cs typeface="Microsoft JhengHei"/>
              </a:rPr>
              <a:t>辐射仿真覆盖三维增益、两个主切面与 Theta-Phi 曲面，用于说明天线不仅满足匹配，也具备可展示的远场辐射结果。</a:t>
            </a:r>
          </a:p>
        </p:txBody>
      </p:sp>
    </p:spTree>
    <p:extLst>
      <p:ext uri="{BB962C8B-B14F-4D97-AF65-F5344CB8AC3E}">
        <p14:creationId xmlns:p14="http://schemas.microsoft.com/office/powerpoint/2010/main" val="18657009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d8ac3b8c3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510733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92A14BC-CE98-45BF-8E50-9D8ECE4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04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F3D874-19FC-4CF3-A9F8-C12E267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仿真结果分析：VSWR 与阻抗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EEFB9BA-A919-4D4B-BE25-8BDB8D96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32146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DATA TABLE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A51C0B9-9BC3-495B-BC4B-D16513CA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2146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驻波比与阻抗明细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68034A5-164C-4604-9334-5659444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813383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97A2692-E4AF-4BE4-8B83-9D8A014A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813383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频段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4079E33-6352-4FFA-9273-A79F6E1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883" y="2496071"/>
            <a:ext cx="1039974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95B94B0-9938-4239-9C3B-4AC1101C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883" y="2496071"/>
            <a:ext cx="1039974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Max VSWR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3985618-033C-42C0-8366-508203D6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57" y="2496071"/>
            <a:ext cx="1361331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2C75933-707D-4C59-9DD2-2DF60978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57" y="2496071"/>
            <a:ext cx="1361331" cy="287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 b="1">
                <a:solidFill>
                  <a:srgbClr val="F8F9FA"/>
                </a:solidFill>
                <a:latin typeface="Space Grotesk"/>
                <a:ea typeface="Space Grotesk"/>
                <a:cs typeface="Space Grotesk"/>
              </a:rPr>
              <a:t>Impedance (Ω)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12F9AFC-F812-4C6C-9302-8AB9958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3607"/>
            <a:ext cx="813383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2.4 GHz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C5F20C-0584-4403-B282-B696ACF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883" y="2783607"/>
            <a:ext cx="1039974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1.06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47969B5-8FC2-47AA-A27D-AF4B20D6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57" y="2783607"/>
            <a:ext cx="1361331" cy="27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48.5 + j1.2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6FA60F2-45B3-48C9-A87D-E367BA4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6855"/>
            <a:ext cx="813383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3.5 GHz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9A52892-C714-4EEC-B7E7-9503A466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883" y="3056855"/>
            <a:ext cx="1039974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1.81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064D1EB-E2DC-4F6D-B419-031C985C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57" y="3056855"/>
            <a:ext cx="1361331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42.3 - j8.5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5542674-281E-49A5-BB35-57E5AD5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676"/>
            <a:ext cx="813383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5.8 GHz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39E7FB9-434A-479B-B796-03F95FA2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883" y="3333676"/>
            <a:ext cx="1039974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1.36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FDC46B3-E927-4398-B9CA-75324F0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57" y="3333676"/>
            <a:ext cx="1361331" cy="276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5090" tIns="85090" rIns="85090" bIns="8509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13315C"/>
                </a:solidFill>
                <a:latin typeface="Space Grotesk"/>
                <a:ea typeface="Space Grotesk"/>
                <a:cs typeface="Space Grotesk"/>
              </a:rPr>
              <a:t>52.1 + j4.3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E21D1CA-9FE1-49BB-8995-C2D9622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6943"/>
            <a:ext cx="3214688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结论：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三频段内 VSWR 均小于 2.0，能量传输效率高。3.5GHz 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频段由于带宽较宽，驻波比相对较高，但仍处于优秀匹配范围。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4CC3E7C-B72E-49FF-87BA-40A2956F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1887066"/>
            <a:ext cx="4500563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VISUALIZATION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2B7C559-9A59-4326-A2A6-7ACD8351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104951"/>
            <a:ext cx="4500563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各频段最大 VSWR 对比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74E9271-AA56-4855-BDE9-6CBCE9E2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496071"/>
            <a:ext cx="4500563" cy="3014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144">
            <a:solidFill>
              <a:srgbClr val="8DA9C4"/>
            </a:solidFill>
            <a:prstDash val="solid"/>
          </a:ln>
        </p:spPr>
      </p:sp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a8938419f4a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4813" y="2638946"/>
            <a:ext cx="4200525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009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7e630e79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510733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876C3DE-EF5D-4B9D-86D1-6FBEB362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04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7F9443B-CF52-4741-BEA1-B05E670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参数优化与寄生枝节分析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3246E37-BAA2-433C-BBB2-98DFDF6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32146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STRATEGY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4C172A-B466-4FE0-8B0A-43A31800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2146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优化策略总结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35E4D5D-809A-4FFB-B476-8FB90280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2496071"/>
            <a:ext cx="3086100" cy="166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馈电与短路点协同：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AC465AC-347E-4DCC-B3DC-2116986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2672879"/>
            <a:ext cx="2844998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通过调节两者间距，成功将低频谐振点从 2.2GHz 修正至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49CC157-348F-4B7C-82A1-A51C8161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2838971"/>
            <a:ext cx="564356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2.45GHz。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D841592-1A0B-4A9E-BD48-5EED7D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3137222"/>
            <a:ext cx="3086100" cy="166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寄生枝节引入：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B648AC6-3424-40B7-A401-206B23AF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3314030"/>
            <a:ext cx="3073598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在主辐射器右侧引入寄生单元，利用电磁耦合在 5.8GHz 产生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220F08A-7F8E-42F2-A422-34466B8D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3480122"/>
            <a:ext cx="571500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新谐振点。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EA20B53-6B87-4A9A-916D-E7A90123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3778374"/>
            <a:ext cx="3086100" cy="166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地板尺寸优化：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A3C8E86-4E4F-4221-ACE6-48985B30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3955182"/>
            <a:ext cx="2891433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调整地板净空区宽度，平衡了中频段 n78 的带宽与匹配深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17A194-6B1E-4C26-BE4B-F9352446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4121274"/>
            <a:ext cx="228600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度。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A95341B-4EC3-4EA1-882C-B21A5478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1887066"/>
            <a:ext cx="4500563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COMPARISON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DA64E57-3C50-446D-B5A9-4C8A811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104951"/>
            <a:ext cx="4500563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优化前后 S11 改善对比 (dB)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B3B90D0-0F48-4484-88BA-AC06CF9E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496071"/>
            <a:ext cx="4500563" cy="3014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144">
            <a:solidFill>
              <a:srgbClr val="8DA9C4"/>
            </a:solidFill>
            <a:prstDash val="solid"/>
          </a:ln>
        </p:spPr>
      </p:sp>
      <p:pic>
        <p:nvPicPr>
          <p:cNvPr id="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81a092f8d4d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4813" y="2638946"/>
            <a:ext cx="4200525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516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0a89d6abb4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510733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1774D0-6832-485B-B745-16853B5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04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06F7630-92C0-47B4-89E1-6EC8DCD2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n78 频段局部复核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355B78-DA5E-4E07-8832-473EFBDA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7066"/>
            <a:ext cx="3214688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VERIFICATION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216F4A5-F575-4DF3-99F5-5422A9D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214688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复核结论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C4E7801-BBB8-46C4-9A3E-2643B13E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6071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带宽覆盖：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9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3.3 - 3.8 GHz (500MHz)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5A60CD6-97EC-46B4-A4C7-27BFF2C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751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最差 S11：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9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-10.77 dB @ 3.55GHz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F76CBBA-FD1E-45AB-9B28-82F293D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5430"/>
            <a:ext cx="3214688" cy="187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最大 VSWR：</a:t>
            </a: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9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1.81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1C7232F-F792-43E8-9ADE-34F60EA6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7266"/>
            <a:ext cx="3214688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分析：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n78 频段作为 5G 主力频段，其带宽要求极高。仿真结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果显示，在整个 500MHz 带宽内，S11 均保持在 -10dB 以下，</a:t>
            </a: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实现了全频段覆盖。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DEB83D4-0C79-4F4D-9514-2DBB4B6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1887066"/>
            <a:ext cx="4500563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BANDWIDTH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93EF640-563B-4663-82EA-2C9C4D69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104951"/>
            <a:ext cx="4500563" cy="248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n78 频段 S11 响应曲线 (Area)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B920E6D-75E7-4F79-8801-C44B78C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2496071"/>
            <a:ext cx="4500563" cy="3014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144">
            <a:solidFill>
              <a:srgbClr val="8DA9C4"/>
            </a:solidFill>
            <a:prstDash val="solid"/>
          </a:ln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bca132f804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4813" y="2638946"/>
            <a:ext cx="4200525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65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509622f5546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59856C-90AB-4EF1-B716-3DB5200D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05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7DAF37-E9BF-4017-ABA2-68360E0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结论与创新点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3AEFEB5-4619-4B12-96EC-8C9434BE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2470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RESEARCH CONCLUSION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F54044-FFA8-48B8-88D9-D2CC2E0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0354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0053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10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本文成功设计并验证了一款覆盖 </a:t>
            </a:r>
            <a:r>
              <a:rPr sz="10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WLAN 2.4/5.8 GHz</a:t>
            </a:r>
            <a:r>
              <a:rPr sz="10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及 </a:t>
            </a:r>
            <a:r>
              <a:rPr sz="10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5G n78</a:t>
            </a:r>
            <a:r>
              <a:rPr sz="10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 频段的多频段 PIFA 手机天线。仿真结果表明，该天线在目标</a:t>
            </a:r>
            <a:r>
              <a:rPr sz="10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频段内均满足 S11 &lt; -10 dB 的工程匹配要求，具备良好的阻抗特性和辐射性能。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3BA53E1-10E0-4CB3-A549-E6AE2F49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3304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INNOVATION POINTS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3D75BEE-F1BF-412B-AFC7-5BE7F715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3266926"/>
            <a:ext cx="2224078" cy="291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3098682-0575-4B7A-92A5-5CC63B7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3629471"/>
            <a:ext cx="2224078" cy="207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多频段统一设计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4013AC8-F987-4369-9EE9-CC18E6EA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9" y="3943796"/>
            <a:ext cx="2224078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突破单频点优化局限，基于宽频数据实现了三频段的协同匹配，更符合现代终端的多业务需求。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CB2C6BF-6CE8-4F46-9031-B6F3248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947" y="3266926"/>
            <a:ext cx="2224078" cy="291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AE1B9C7-BA0C-4C63-A022-F8560E0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947" y="3629471"/>
            <a:ext cx="2224078" cy="207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协同机理揭示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A6928A-9A28-4E57-B084-61055A1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947" y="3943796"/>
            <a:ext cx="2224078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深入分析了主辐射枝节、地板电流与寄生耦合的相互作用，为多频段天线结构调节提供了理论依据。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D2EB9A-2F59-4175-9C81-7C935E4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375" y="3266926"/>
            <a:ext cx="2224078" cy="291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1F00D24-4FAB-4B0E-A3D1-44EF23E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375" y="3629471"/>
            <a:ext cx="2224078" cy="207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完整仿真链条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92367E8-5C9C-4894-96A0-1EF2E7E9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375" y="3943796"/>
            <a:ext cx="2224078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建立了从目标设定、参数扫描到局部复核的闭环仿真验证体系，增强了设计过程的科学性与可读性。</a:t>
            </a:r>
          </a:p>
        </p:txBody>
      </p:sp>
    </p:spTree>
    <p:extLst>
      <p:ext uri="{BB962C8B-B14F-4D97-AF65-F5344CB8AC3E}">
        <p14:creationId xmlns:p14="http://schemas.microsoft.com/office/powerpoint/2010/main" val="13674636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27408a2a749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D4CD190-3EA2-4B7E-B0DB-5114CA0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CHAPTER 05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C22F576-53E8-4227-8270-782DC7C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4788"/>
            <a:ext cx="8001000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不足与展望</a:t>
            </a:r>
          </a:p>
        </p:txBody>
      </p:sp>
      <p:pic>
        <p:nvPicPr>
          <p:cNvPr id="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177a7b37d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90314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CCCA710C-3992-4B3E-8585-31088B6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1887066"/>
            <a:ext cx="659011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LIMITATIONS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C251189-DA12-43D2-B439-66A76A69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951"/>
            <a:ext cx="3707606" cy="2893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研究不足</a:t>
            </a:r>
          </a:p>
        </p:txBody>
      </p:sp>
      <p:pic>
        <p:nvPicPr>
          <p:cNvPr id="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67ec7981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644304"/>
            <a:ext cx="142875" cy="617153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F9F96552-E79E-40FF-91D6-474D44A7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2608585"/>
            <a:ext cx="3457575" cy="2057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环境简化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DC467F89-CAA5-4F7D-9500-B05DF42D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2864309"/>
            <a:ext cx="334327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仿真模型主要关注自由空间，尚未加入屏幕、电池、金属中</a:t>
            </a:r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72F037DC-A529-4694-85A5-576B935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3070027"/>
            <a:ext cx="180022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框及人体手持等复杂整机因素。</a:t>
            </a:r>
          </a:p>
        </p:txBody>
      </p:sp>
      <p:pic>
        <p:nvPicPr>
          <p:cNvPr id="1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54cb40531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475769"/>
            <a:ext cx="178594" cy="617153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EC52F426-18AE-4F5C-9D6B-3F959755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0050"/>
            <a:ext cx="3421856" cy="2057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优化深度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D2897000-DE4D-4BAD-A0BA-1EBF8446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74"/>
            <a:ext cx="3325416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参数优化以有限候选方案比较为主，尚未使用 HFSS 优化器</a:t>
            </a: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0505B090-E74E-46FD-A651-D0C50FB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1492"/>
            <a:ext cx="128587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进行多目标自动寻优。</a:t>
            </a:r>
          </a:p>
        </p:txBody>
      </p:sp>
      <p:pic>
        <p:nvPicPr>
          <p:cNvPr id="1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cbc5ef497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307235"/>
            <a:ext cx="142875" cy="617153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25D2613-ABDF-4A0D-94AE-A3E762B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4271516"/>
            <a:ext cx="3457575" cy="2057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缺乏实测</a:t>
            </a:r>
          </a:p>
        </p:txBody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53E52DD0-5A43-45F1-868E-70F50DBC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4527240"/>
            <a:ext cx="334327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论文仅完成仿真验证，尚未制作实物样机并使用矢量网络分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00529862-EDCE-4ADA-8F36-E2917A5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4732958"/>
            <a:ext cx="129480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析仪进行 S 参数实测。</a:t>
            </a:r>
          </a:p>
        </p:txBody>
      </p:sp>
      <p:pic>
        <p:nvPicPr>
          <p:cNvPr id="2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89f7a08b847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4894" y="190314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0884574E-D489-4CB6-AB52-FC3065AE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631" y="1887066"/>
            <a:ext cx="766167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FUTURE WORK</a:t>
            </a: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FBDBC150-DB8C-48DE-BD29-2710A9FD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94" y="2104951"/>
            <a:ext cx="3707606" cy="2893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未来展望</a:t>
            </a:r>
          </a:p>
        </p:txBody>
      </p:sp>
      <p:pic>
        <p:nvPicPr>
          <p:cNvPr id="2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e4ef7ab5a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4894" y="2644304"/>
            <a:ext cx="107156" cy="617153"/>
          </a:xfrm>
          <a:prstGeom xmlns:a="http://schemas.openxmlformats.org/drawingml/2006/main" prst="rect">
            <a:avLst/>
          </a:prstGeom>
        </p:spPr>
      </p:pic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76945B0F-B02D-4B47-9B11-7CB317E1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206" y="2608585"/>
            <a:ext cx="3493294" cy="2057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整机仿真</a:t>
            </a:r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CED3F2E7-C951-4C69-AEEE-DCC7727C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206" y="2864309"/>
            <a:ext cx="3414713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在现有 PIFA 模型中加入更真实的手机结构件，分析整机环境</a:t>
            </a:r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1C3D2409-9113-4362-A6CB-2ECAE92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206" y="3070027"/>
            <a:ext cx="128587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对多频段匹配的影响。</a:t>
            </a:r>
          </a:p>
        </p:txBody>
      </p:sp>
      <p:pic>
        <p:nvPicPr>
          <p:cNvPr id="2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d4bbf22c2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4894" y="3475769"/>
            <a:ext cx="142875" cy="617153"/>
          </a:xfrm>
          <a:prstGeom xmlns:a="http://schemas.openxmlformats.org/drawingml/2006/main" prst="rect">
            <a:avLst/>
          </a:prstGeom>
        </p:spPr>
      </p:pic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EEE5159F-77A2-4526-9BA5-F5E47053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40050"/>
            <a:ext cx="3457575" cy="2057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自动寻优</a:t>
            </a:r>
          </a:p>
        </p:txBody>
      </p:sp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9A1D4629-BAE7-463C-AB92-8D7D1421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95774"/>
            <a:ext cx="334327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引入多目标自动寻优算法，在带宽、增益、效率和隔离度之</a:t>
            </a:r>
          </a:p>
        </p:txBody>
      </p:sp>
      <p:sp>
        <p:nvSpPr>
          <p:cNvPr id="30" name="Text 20">
            <a:extLst xmlns:a="http://schemas.openxmlformats.org/drawingml/2006/main">
              <a:ext uri="{FF2B5EF4-FFF2-40B4-BE49-F238E27FC236}">
                <a16:creationId xmlns:a16="http://schemas.microsoft.com/office/drawing/2014/main" id="{29974FBA-A2B2-4EF3-9FBF-56BEF3C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901492"/>
            <a:ext cx="1157288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间寻找最优平衡点。</a:t>
            </a:r>
          </a:p>
        </p:txBody>
      </p:sp>
      <p:pic>
        <p:nvPicPr>
          <p:cNvPr id="31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f1a1d03814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4894" y="4307235"/>
            <a:ext cx="142875" cy="617153"/>
          </a:xfrm>
          <a:prstGeom xmlns:a="http://schemas.openxmlformats.org/drawingml/2006/main" prst="rect">
            <a:avLst/>
          </a:prstGeom>
        </p:spPr>
      </p:pic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A5282F68-1282-4CF3-A257-214DCB0A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71516"/>
            <a:ext cx="3457575" cy="2057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实物测试</a:t>
            </a:r>
          </a:p>
        </p:txBody>
      </p:sp>
      <p:sp>
        <p:nvSpPr>
          <p:cNvPr id="33" name="Text 22">
            <a:extLst xmlns:a="http://schemas.openxmlformats.org/drawingml/2006/main">
              <a:ext uri="{FF2B5EF4-FFF2-40B4-BE49-F238E27FC236}">
                <a16:creationId xmlns:a16="http://schemas.microsoft.com/office/drawing/2014/main" id="{108A6328-0843-4546-9DC4-12478D34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527240"/>
            <a:ext cx="3343275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制作实物样机并开展实测，将仿真曲线与实测曲线对比，进</a:t>
            </a:r>
          </a:p>
        </p:txBody>
      </p:sp>
      <p:sp>
        <p:nvSpPr>
          <p:cNvPr id="34" name="Text 23">
            <a:extLst xmlns:a="http://schemas.openxmlformats.org/drawingml/2006/main">
              <a:ext uri="{FF2B5EF4-FFF2-40B4-BE49-F238E27FC236}">
                <a16:creationId xmlns:a16="http://schemas.microsoft.com/office/drawing/2014/main" id="{E166AB9D-EF36-4AE2-8D1D-69D547C6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32958"/>
            <a:ext cx="1414463" cy="175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一步验证设计的可靠性。</a:t>
            </a:r>
          </a:p>
        </p:txBody>
      </p:sp>
    </p:spTree>
    <p:extLst>
      <p:ext uri="{BB962C8B-B14F-4D97-AF65-F5344CB8AC3E}">
        <p14:creationId xmlns:p14="http://schemas.microsoft.com/office/powerpoint/2010/main" val="15510259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59905c5fe4f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2F503E2-7415-4649-9512-A3E4BB84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4333856" cy="14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EE6C4D"/>
                </a:solidFill>
                <a:latin typeface="Space Grotesk"/>
                <a:ea typeface="Space Grotesk"/>
                <a:cs typeface="Space Grotesk"/>
              </a:rPr>
              <a:t>ACKNOWLEDGEMENTS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C1B6797-B55F-40DA-AFC9-0125F93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2259"/>
            <a:ext cx="4333856" cy="496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>
                <a:solidFill>
                  <a:srgbClr val="0B2545"/>
                </a:solidFill>
                <a:latin typeface="Montserrat ExtraBold"/>
                <a:ea typeface="Montserrat ExtraBold"/>
                <a:cs typeface="Montserrat ExtraBold"/>
              </a:rPr>
              <a:t>致谢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A7F309A-68A9-4DA4-BBFE-9DC2ECF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7388"/>
            <a:ext cx="714375" cy="46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导师指导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8B8C2F0-7476-4C36-B560-3E01C94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31" y="1957388"/>
            <a:ext cx="3512325" cy="46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感谢程敏教授在选题、建模及论文撰写过程中的悉心指导与宝贵建议。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B557802-7B13-4578-8DAF-E25ACAAA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8874"/>
            <a:ext cx="714375" cy="46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学院支持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8B2DFE7-1758-4DB1-95C4-F3077F93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31" y="2598874"/>
            <a:ext cx="3512325" cy="46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感谢物理与电子信息工程学院提供的良好学术氛围与实验仿真平台。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738CC3A-6BB1-4D61-96BD-88E4395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0360"/>
            <a:ext cx="714375" cy="46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00" b="1">
                <a:solidFill>
                  <a:srgbClr val="0B2545"/>
                </a:solidFill>
                <a:latin typeface="Open Sans"/>
                <a:ea typeface="Open Sans"/>
                <a:cs typeface="Open Sans"/>
              </a:rPr>
              <a:t>同学家人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FF36119-091D-4B8F-8F3D-CFD1A19F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31" y="3240360"/>
            <a:ext cx="3512325" cy="46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50">
                <a:solidFill>
                  <a:srgbClr val="13315C"/>
                </a:solidFill>
                <a:latin typeface="Open Sans"/>
                <a:ea typeface="Open Sans"/>
                <a:cs typeface="Open Sans"/>
              </a:rPr>
              <a:t>感谢同学在软件使用中的帮助，以及家人一直以来的支持与鼓励。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27E7D4-D393-4C44-B0FE-915444A9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9003"/>
            <a:ext cx="4333856" cy="2314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  <a:r>
              <a:rPr sz="950" i="1">
                <a:solidFill>
                  <a:srgbClr val="8DA9C4"/>
                </a:solidFill>
                <a:latin typeface="Open Sans"/>
                <a:ea typeface="Open Sans"/>
                <a:cs typeface="Open Sans"/>
              </a:rPr>
              <a:t>恳请各位老师批评指正！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601887C-EE47-40E6-A155-CB0BD6F5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981" y="0"/>
            <a:ext cx="3809991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FA610D2-E8B5-4423-B8F9-3857B67C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685" y="1819870"/>
            <a:ext cx="2164556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80000"/>
              </a:lnSpc>
              <a:buNone/>
            </a:pPr>
            <a:r>
              <a:rPr sz="4150" b="1">
                <a:solidFill>
                  <a:srgbClr val="EE6C4D"/>
                </a:solidFill>
                <a:latin typeface="Montserrat ExtraBold"/>
                <a:ea typeface="Montserrat ExtraBold"/>
                <a:cs typeface="Montserrat ExtraBold"/>
              </a:rPr>
              <a:t>THANK</a:t>
            </a:r>
            <a:br/>
            <a:r>
              <a:rPr sz="4150" b="1">
                <a:solidFill>
                  <a:srgbClr val="EE6C4D"/>
                </a:solidFill>
                <a:latin typeface="Montserrat ExtraBold"/>
                <a:ea typeface="Montserrat ExtraBold"/>
                <a:cs typeface="Montserrat ExtraBold"/>
              </a:rPr>
              <a:t>YOU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BB9F5B2-F1BC-49A4-A9D4-BCE4354C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142" y="3105745"/>
            <a:ext cx="1137642" cy="2178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8DA9C4"/>
                </a:solidFill>
                <a:latin typeface="Space Grotesk"/>
                <a:ea typeface="Space Grotesk"/>
                <a:cs typeface="Space Grotesk"/>
              </a:rPr>
              <a:t>Q &amp; A SESSION</a:t>
            </a:r>
          </a:p>
        </p:txBody>
      </p:sp>
    </p:spTree>
    <p:extLst>
      <p:ext uri="{BB962C8B-B14F-4D97-AF65-F5344CB8AC3E}">
        <p14:creationId xmlns:p14="http://schemas.microsoft.com/office/powerpoint/2010/main" val="245736198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2026-05-13T01:39:47.4490000Z</dcterms:created>
  <dcterms:modified xsi:type="dcterms:W3CDTF">2026-05-13T01:39:47.4490000Z</dcterms:modified>
</coreProperties>
</file>